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3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4920"/>
            <a:ext cx="12188952" cy="1783080"/>
          </a:xfrm>
          <a:prstGeom prst="rect">
            <a:avLst/>
          </a:prstGeom>
          <a:solidFill>
            <a:srgbClr val="1F31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— BATCH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SAP OTC / Order-to-Cash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Platform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Requirements to a Power BI-Ready Gold Layer — Architecture, Data Quality &amp; Client Readout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Reshmi Rakesh P   ·   Thajunnisa N   ·   Athira NK   ·   Sruthy 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Analytics Project  |  Order-to-Cash Reporting Platform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354312" y="5806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174650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11226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platform exists and the questions it answers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89320" y="16002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995160" y="174650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Architecture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211226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and the Azure medallion design behind it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246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54480" y="3255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Order-to-Cash Data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362102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Sales Order, Delivery and Billing connect in the Gold layer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9320" y="310896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32461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995160" y="325526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Standardization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62102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revenue comparable across countries and currencies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554480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&amp; Resolutions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12978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issues we hit, and how we solved each one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89320" y="461772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475488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7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995160" y="4764024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Steps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95160" y="5129784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 and what remains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View of Order-to-Cash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233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eck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178079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27632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Sales Order → Delivery → Billing from replicated SAP tables, convert every monetary value into a single Group Reporting Currency (USD), and publish a governed Power BI semantic model — so Data Analysts self-serve sales performance without writing SQL.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2788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 THE PLATFORM MUST ANSWER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1463040" y="3520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081" y="362148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4480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sales, in one currency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31520" y="5074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month, sales org, channel, division, customer and material.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74136" y="32461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15" name="Shape 11"/>
          <p:cNvSpPr/>
          <p:nvPr/>
        </p:nvSpPr>
        <p:spPr>
          <a:xfrm>
            <a:off x="4288536" y="3520440"/>
            <a:ext cx="777240" cy="7772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6" name="Image 2" descr="/home/claude/deck/icons/tachome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577" y="362148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538728" y="4480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efficiency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557016" y="5074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→ Delivery → Invoice cycle time, on-time delivery, backlog.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199632" y="32461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7114032" y="352044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deck/icons/search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073" y="3621481"/>
            <a:ext cx="575158" cy="5751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4224" y="4480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drivers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382512" y="5074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customers, materials and sales orgs drive revenue, and the trend.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25128" y="324612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F6FA"/>
          </a:solidFill>
          <a:ln/>
        </p:spPr>
      </p:sp>
      <p:sp>
        <p:nvSpPr>
          <p:cNvPr id="25" name="Shape 19"/>
          <p:cNvSpPr/>
          <p:nvPr/>
        </p:nvSpPr>
        <p:spPr>
          <a:xfrm>
            <a:off x="9939528" y="3520440"/>
            <a:ext cx="777240" cy="77724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6" name="Image 4" descr="/home/claude/deck/icons/exclam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569" y="3621481"/>
            <a:ext cx="575158" cy="5751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189720" y="4480560"/>
            <a:ext cx="22768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leakage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9208008" y="5074920"/>
            <a:ext cx="2240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not delivered, delivered but not billed, or billed late.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Phase Delivers — and What It Doesn’t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ec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9399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928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51460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 data — header + item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(outbound shipping) — header + item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Invoice — header + item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flow: Order → Delivery → Billing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 (general + sales area)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master (general, description, sales area)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exchange rate conversion for all monetary reporting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semantic model for Data Analysts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16233F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deck/icons/tim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19399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928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09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Finance/Controlling (FI/CO) postings beyond currency master data (TCURR/TCURF)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 Materials Management inbound processes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 streaming ingestion — batch only for this phase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to SAP or any transactional system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Medallion Architecture on Azure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31620" y="2743200"/>
            <a:ext cx="9098280" cy="0"/>
          </a:xfrm>
          <a:prstGeom prst="line">
            <a:avLst/>
          </a:prstGeom>
          <a:noFill/>
          <a:ln w="25400">
            <a:solidFill>
              <a:srgbClr val="DDE3E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20140" y="1965960"/>
            <a:ext cx="822960" cy="82296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6" name="Image 0" descr="/home/claude/deck/icons/cloud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125" y="2072945"/>
            <a:ext cx="608990" cy="6089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0175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136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 Factory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58368" y="37947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copy from source, partitioned by load date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 rot="5400000">
            <a:off x="2586609" y="2651760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2" name="Shape 9"/>
          <p:cNvSpPr/>
          <p:nvPr/>
        </p:nvSpPr>
        <p:spPr>
          <a:xfrm>
            <a:off x="339471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/home/claude/deck/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695" y="2072945"/>
            <a:ext cx="608990" cy="60899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23210" y="30175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15" name="Text 11"/>
          <p:cNvSpPr/>
          <p:nvPr/>
        </p:nvSpPr>
        <p:spPr>
          <a:xfrm>
            <a:off x="2914650" y="3136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91465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ADLS + Databricks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932938" y="37947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deduplicated "_clean" tables via Auto Loader MERGE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 rot="5400000">
            <a:off x="4861179" y="2651760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9" name="Shape 15"/>
          <p:cNvSpPr/>
          <p:nvPr/>
        </p:nvSpPr>
        <p:spPr>
          <a:xfrm>
            <a:off x="5669280" y="1965960"/>
            <a:ext cx="822960" cy="82296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0" name="Image 2" descr="/home/claude/deck/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6265" y="2072945"/>
            <a:ext cx="608990" cy="60899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5097780" y="30175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22" name="Text 17"/>
          <p:cNvSpPr/>
          <p:nvPr/>
        </p:nvSpPr>
        <p:spPr>
          <a:xfrm>
            <a:off x="5189220" y="3136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18922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/ PySpark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207508" y="37947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facts &amp; dimensions, built per BR-01 – BR-08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 rot="5400000">
            <a:off x="7135749" y="2651760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6" name="Shape 21"/>
          <p:cNvSpPr/>
          <p:nvPr/>
        </p:nvSpPr>
        <p:spPr>
          <a:xfrm>
            <a:off x="794385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/home/claude/deck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835" y="2072945"/>
            <a:ext cx="608990" cy="60899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7372350" y="30175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29" name="Text 23"/>
          <p:cNvSpPr/>
          <p:nvPr/>
        </p:nvSpPr>
        <p:spPr>
          <a:xfrm>
            <a:off x="7463790" y="3136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46379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7482078" y="37947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upsert / SCD2 publish for consumption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 rot="5400000">
            <a:off x="9410319" y="2651760"/>
            <a:ext cx="164592" cy="164592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3" name="Shape 27"/>
          <p:cNvSpPr/>
          <p:nvPr/>
        </p:nvSpPr>
        <p:spPr>
          <a:xfrm>
            <a:off x="10218420" y="1965960"/>
            <a:ext cx="822960" cy="82296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34" name="Image 4" descr="/home/claude/deck/icons/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05" y="2072945"/>
            <a:ext cx="608990" cy="60899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646920" y="3017520"/>
            <a:ext cx="1965960" cy="2194560"/>
          </a:xfrm>
          <a:prstGeom prst="roundRect">
            <a:avLst>
              <a:gd name="adj" fmla="val 3721"/>
            </a:avLst>
          </a:prstGeom>
          <a:solidFill>
            <a:srgbClr val="F4F6FA"/>
          </a:solidFill>
          <a:ln/>
        </p:spPr>
      </p:sp>
      <p:sp>
        <p:nvSpPr>
          <p:cNvPr id="36" name="Text 29"/>
          <p:cNvSpPr/>
          <p:nvPr/>
        </p:nvSpPr>
        <p:spPr>
          <a:xfrm>
            <a:off x="9738360" y="313639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738360" y="34747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9756648" y="3794760"/>
            <a:ext cx="1746504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semantic model for self-service reporting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AF1F4"/>
          </a:solidFill>
          <a:ln/>
        </p:spPr>
      </p:sp>
      <p:sp>
        <p:nvSpPr>
          <p:cNvPr id="40" name="Text 33"/>
          <p:cNvSpPr/>
          <p:nvPr/>
        </p:nvSpPr>
        <p:spPr>
          <a:xfrm>
            <a:off x="777240" y="559612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today:  </a:t>
            </a:r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dbw_sdotc_dev catalog  •  Silver has grown to 37 tables  •  Gold holds conformed dimensions, fact_order_to_cash, and dedicated dq_exceptions / dq_reconciliation_summary tables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Order-to-Cash Document Chain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eck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0308" y="2078888"/>
            <a:ext cx="642823" cy="6428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2990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Order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515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VBAK + VBAP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51560" y="3639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line item, joined on VBELN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27348" y="25786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deck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3916" y="2645176"/>
            <a:ext cx="378927" cy="37892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617720" y="16916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16233F"/>
          </a:solidFill>
          <a:ln/>
        </p:spPr>
      </p:sp>
      <p:sp>
        <p:nvSpPr>
          <p:cNvPr id="13" name="Shape 9"/>
          <p:cNvSpPr/>
          <p:nvPr/>
        </p:nvSpPr>
        <p:spPr>
          <a:xfrm>
            <a:off x="5600700" y="1965960"/>
            <a:ext cx="868680" cy="8686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2" descr="/home/claude/deck/icons/tru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628" y="2078888"/>
            <a:ext cx="642823" cy="64282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990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75488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LIKP + LIPS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4754880" y="3639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back via VGBEL / VGPOS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630668" y="257860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deck/icons/l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7236" y="2645176"/>
            <a:ext cx="378927" cy="37892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8321040" y="1691640"/>
            <a:ext cx="2834640" cy="2286000"/>
          </a:xfrm>
          <a:prstGeom prst="roundRect">
            <a:avLst>
              <a:gd name="adj" fmla="val 4000"/>
            </a:avLst>
          </a:prstGeom>
          <a:solidFill>
            <a:srgbClr val="F4F6FA"/>
          </a:solidFill>
          <a:ln/>
        </p:spPr>
      </p:sp>
      <p:sp>
        <p:nvSpPr>
          <p:cNvPr id="21" name="Shape 15"/>
          <p:cNvSpPr/>
          <p:nvPr/>
        </p:nvSpPr>
        <p:spPr>
          <a:xfrm>
            <a:off x="9304020" y="19659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deck/icons/invoic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6948" y="2078888"/>
            <a:ext cx="642823" cy="64282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458200" y="29900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845820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VBRK + VBRP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8458200" y="3639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VGBEL / VGPOS / VGTYP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VBFA (document flow) links each stage: preceding document → subsequent document, preserving 1-to-many fan-out — one order line can roll into zero, one, or many deliveries and invoices.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CF3E3"/>
          </a:solidFill>
          <a:ln/>
        </p:spPr>
      </p:sp>
      <p:sp>
        <p:nvSpPr>
          <p:cNvPr id="28" name="Shape 21"/>
          <p:cNvSpPr/>
          <p:nvPr/>
        </p:nvSpPr>
        <p:spPr>
          <a:xfrm>
            <a:off x="777240" y="512064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9" name="Image 5" descr="/home/claude/deck/icons/sear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507" y="5197907"/>
            <a:ext cx="439826" cy="43982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54480" y="5029200"/>
            <a:ext cx="9921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reality check:  </a:t>
            </a:r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BRD called for 14 SAP tables; the replicated dataset only had 12 — KNVV and MVKE were missing. We profiled the available tables instead of escalating immediately: VBAP.mvgr1 is an exact substitute for MVKE.MVGR1, and KNA1.werks exactly covers KNVV.VWERK. Customer Group (KDGRP) has no exact match — we flagged VBAK/LIPS KVGR1-5 as an approximate proxy and reported it to the BA.</a:t>
            </a:r>
            <a:endParaRPr lang="en-US" sz="108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Fact Tables, Built in Epic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eck/icons/filea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03088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202082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" y="26974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Fact_SalesOrder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4672" y="3136392"/>
            <a:ext cx="3008376" cy="384048"/>
          </a:xfrm>
          <a:prstGeom prst="roundRect">
            <a:avLst>
              <a:gd name="adj" fmla="val 14286"/>
            </a:avLst>
          </a:prstGeom>
          <a:solidFill>
            <a:srgbClr val="F4F6F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313639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VBAK ⋈ VBAP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4672" y="36850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conversion built inline against tcurr / tcurf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group_currency column added for consistency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25112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81144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deck/icons/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354" y="2030882"/>
            <a:ext cx="473659" cy="47365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28232" y="202082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7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81144" y="26974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Fact_Delivery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581144" y="3136392"/>
            <a:ext cx="3008376" cy="384048"/>
          </a:xfrm>
          <a:prstGeom prst="roundRect">
            <a:avLst>
              <a:gd name="adj" fmla="val 14286"/>
            </a:avLst>
          </a:prstGeom>
          <a:solidFill>
            <a:srgbClr val="F4F6FA"/>
          </a:solidFill>
          <a:ln/>
        </p:spPr>
      </p:sp>
      <p:sp>
        <p:nvSpPr>
          <p:cNvPr id="18" name="Text 14"/>
          <p:cNvSpPr/>
          <p:nvPr/>
        </p:nvSpPr>
        <p:spPr>
          <a:xfrm>
            <a:off x="4581144" y="313639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LIKP ⋈ LIPS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81144" y="36850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Fact_SalesOrder via VGBEL / VGPOS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order-to-delivery lead time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101584" y="1691640"/>
            <a:ext cx="35204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357616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2" descr="/home/claude/deck/icons/invoi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826" y="2030882"/>
            <a:ext cx="473659" cy="47365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204704" y="202082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8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357616" y="269748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Fact_Billing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8357616" y="3136392"/>
            <a:ext cx="3008376" cy="384048"/>
          </a:xfrm>
          <a:prstGeom prst="roundRect">
            <a:avLst>
              <a:gd name="adj" fmla="val 14286"/>
            </a:avLst>
          </a:prstGeom>
          <a:solidFill>
            <a:srgbClr val="F4F6FA"/>
          </a:solidFill>
          <a:ln/>
        </p:spPr>
      </p:sp>
      <p:sp>
        <p:nvSpPr>
          <p:cNvPr id="26" name="Text 21"/>
          <p:cNvSpPr/>
          <p:nvPr/>
        </p:nvSpPr>
        <p:spPr>
          <a:xfrm>
            <a:off x="8357616" y="3136392"/>
            <a:ext cx="3008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VBRK ⋈ VBRP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57616" y="3685032"/>
            <a:ext cx="300837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via VGBEL / VGPOS / VGTYP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currency-audit column set applied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A"/>
          </a:solidFill>
          <a:ln/>
        </p:spPr>
      </p:sp>
      <p:sp>
        <p:nvSpPr>
          <p:cNvPr id="29" name="Text 24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followed the BRD’s epics, not convenience —  </a:t>
            </a:r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Fact_SalesOrder first, then Fact_Delivery, then Fact_Billing — so each table’s dependencies were already validated before the next one was built.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BR-07 — KEY USE CASE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Reporting Currency, Fully Auditable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16233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deck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911553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0195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297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land in whatever local currency the transaction was recorded in — CAD shows up often in this dataset — so revenue can’t simply be summed across records.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794760"/>
            <a:ext cx="4297680" cy="0"/>
          </a:xfrm>
          <a:prstGeom prst="line">
            <a:avLst/>
          </a:prstGeom>
          <a:noFill/>
          <a:ln w="12700">
            <a:solidFill>
              <a:srgbClr val="35486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Standard (per BR-07)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3891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monetary value to USD (Group Reporting Currency) using exchange rate type ‘M’, sourced from the TCURR / TCURF silver tables — applied as a standing rule across the whole Gold layer.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52160" y="1554480"/>
            <a:ext cx="5806440" cy="1874520"/>
          </a:xfrm>
          <a:prstGeom prst="roundRect">
            <a:avLst>
              <a:gd name="adj" fmla="val 4878"/>
            </a:avLst>
          </a:prstGeom>
          <a:solidFill>
            <a:srgbClr val="FCF3E3"/>
          </a:solidFill>
          <a:ln/>
        </p:spPr>
      </p:sp>
      <p:sp>
        <p:nvSpPr>
          <p:cNvPr id="13" name="Shape 10"/>
          <p:cNvSpPr/>
          <p:nvPr/>
        </p:nvSpPr>
        <p:spPr>
          <a:xfrm>
            <a:off x="6080760" y="175564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4" name="Image 1" descr="/home/claude/deck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083" y="1826971"/>
            <a:ext cx="405994" cy="40599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6656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the existing "converted" table?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26480" y="2148840"/>
            <a:ext cx="5257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3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vbap_currency_converted sounded solved — until we inspected it. Its netwr column was still in the original document currency, with no exchange-rate or rate-date column to audit it against. We built the conversion inline instead, straight against tcurr and tcurf.</a:t>
            </a:r>
            <a:endParaRPr lang="en-US" sz="1130" dirty="0"/>
          </a:p>
        </p:txBody>
      </p:sp>
      <p:sp>
        <p:nvSpPr>
          <p:cNvPr id="17" name="Text 13"/>
          <p:cNvSpPr/>
          <p:nvPr/>
        </p:nvSpPr>
        <p:spPr>
          <a:xfrm>
            <a:off x="5852160" y="3657600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COLUMNS ADDED TO EVERY MONETARY FACT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852160" y="4023360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52160" y="402336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source_currency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808976" y="4023360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808976" y="402336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group_currency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9765792" y="4023360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765792" y="4023360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exchange_rate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852160" y="47365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52160" y="473659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rate_date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808976" y="47365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808976" y="473659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item_net_value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9765792" y="4736592"/>
            <a:ext cx="18470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765792" y="473659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converted_value_usd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Real Issues — Found, Diagnosed, Resolved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43100" y="1810512"/>
            <a:ext cx="731520" cy="73152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6" name="Image 0" descr="/home/claude/deck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198" y="1905610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700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Gap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7240" y="350215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14 BRD tables (KNVV, MVKE) missing from the replicated dataset.</a:t>
            </a:r>
            <a:endParaRPr lang="en-US" sz="1030" dirty="0"/>
          </a:p>
        </p:txBody>
      </p:sp>
      <p:sp>
        <p:nvSpPr>
          <p:cNvPr id="10" name="Text 7"/>
          <p:cNvSpPr/>
          <p:nvPr/>
        </p:nvSpPr>
        <p:spPr>
          <a:xfrm>
            <a:off x="777240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77240" y="450799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available tables first — found exact substitutes for 2 of 3 missing fields; flagged the one approximate proxy to the BA.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2880360" y="17190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17190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325112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9572" y="1810512"/>
            <a:ext cx="731520" cy="73152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16" name="Image 1" descr="/home/claude/deck/icon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4670" y="1905610"/>
            <a:ext cx="541325" cy="5413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07992" y="26700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Inconsistency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4553712" y="3246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553712" y="350215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fields sat in local currency; the table that looked pre-converted wasn’t.</a:t>
            </a:r>
            <a:endParaRPr lang="en-US" sz="1030" dirty="0"/>
          </a:p>
        </p:txBody>
      </p:sp>
      <p:sp>
        <p:nvSpPr>
          <p:cNvPr id="20" name="Text 16"/>
          <p:cNvSpPr/>
          <p:nvPr/>
        </p:nvSpPr>
        <p:spPr>
          <a:xfrm>
            <a:off x="4553712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53712" y="450799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USD conversion inline against tcurr/tcurf per BR-07, with a full audit-column set on every fact.</a:t>
            </a:r>
            <a:endParaRPr lang="en-US" sz="1030" dirty="0"/>
          </a:p>
        </p:txBody>
      </p:sp>
      <p:sp>
        <p:nvSpPr>
          <p:cNvPr id="22" name="Shape 18"/>
          <p:cNvSpPr/>
          <p:nvPr/>
        </p:nvSpPr>
        <p:spPr>
          <a:xfrm>
            <a:off x="6656832" y="171907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Text 19"/>
          <p:cNvSpPr/>
          <p:nvPr/>
        </p:nvSpPr>
        <p:spPr>
          <a:xfrm>
            <a:off x="6656832" y="1719072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101584" y="155448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496044" y="1810512"/>
            <a:ext cx="731520" cy="731520"/>
          </a:xfrm>
          <a:prstGeom prst="ellipse">
            <a:avLst/>
          </a:prstGeom>
          <a:solidFill>
            <a:srgbClr val="16233F"/>
          </a:solidFill>
          <a:ln/>
        </p:spPr>
      </p:sp>
      <p:pic>
        <p:nvPicPr>
          <p:cNvPr id="26" name="Image 2" descr="/home/claude/deck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1142" y="1905610"/>
            <a:ext cx="541325" cy="5413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284464" y="26700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 Grain Mismatch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330184" y="32461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330184" y="350215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Dim_SalesOrganization keys on 3 columns; facts only carried 1, breaking SK lookups.</a:t>
            </a:r>
            <a:endParaRPr lang="en-US" sz="1030" dirty="0"/>
          </a:p>
        </p:txBody>
      </p:sp>
      <p:sp>
        <p:nvSpPr>
          <p:cNvPr id="30" name="Text 25"/>
          <p:cNvSpPr/>
          <p:nvPr/>
        </p:nvSpPr>
        <p:spPr>
          <a:xfrm>
            <a:off x="8330184" y="4251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8330184" y="4507992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vtweg + spart to Fact_Billing now; same fix tracked separately for remaining facts.</a:t>
            </a:r>
            <a:endParaRPr lang="en-US" sz="1030" dirty="0"/>
          </a:p>
        </p:txBody>
      </p:sp>
      <p:sp>
        <p:nvSpPr>
          <p:cNvPr id="32" name="Shape 27"/>
          <p:cNvSpPr/>
          <p:nvPr/>
        </p:nvSpPr>
        <p:spPr>
          <a:xfrm>
            <a:off x="10204704" y="171907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3" name="Text 28"/>
          <p:cNvSpPr/>
          <p:nvPr/>
        </p:nvSpPr>
        <p:spPr>
          <a:xfrm>
            <a:off x="10204704" y="1719072"/>
            <a:ext cx="1234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Trust, Verified — and Where We Stand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deck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114" y="191795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&amp; Auditability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 and sum(NETWR) are compared between Bronze and Gold after every load — so a silent drop or duplicate shows up as a variance, not a surprise.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" y="3794760"/>
            <a:ext cx="4480560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9776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out in two passes: an initial pass now, and the remaining checks alongside final documentation and handover.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68680" y="49377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dq_exceptions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154680" y="493776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4937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23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dq_reconciliation_summary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1600200"/>
            <a:ext cx="5715000" cy="4160520"/>
          </a:xfrm>
          <a:prstGeom prst="roundRect">
            <a:avLst>
              <a:gd name="adj" fmla="val 2198"/>
            </a:avLst>
          </a:prstGeom>
          <a:solidFill>
            <a:srgbClr val="16233F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7920" y="182880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Image 1" descr="/home/claude/deck/icons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074" y="1917954"/>
            <a:ext cx="507492" cy="5074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19202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Status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263640" y="26060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/home/claude/dec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66" y="2655966"/>
            <a:ext cx="284196" cy="2841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25511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Fact_SalesOrder, Fact_Delivery, Fact_Billing built and checked against BR-01, BR-02, BR-03, BR-07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3520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/home/claude/dec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566" y="3570366"/>
            <a:ext cx="284196" cy="2841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812280" y="34655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→ Azure SQL DB publishing is live for facts, SCD2 dimensions, and static dimensions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263640" y="4434840"/>
            <a:ext cx="384048" cy="38404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6" name="Image 4" descr="/home/claude/deck/icons/exclamati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566" y="4484766"/>
            <a:ext cx="284196" cy="2841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12280" y="4379976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Open: Fact_Billing surrogate key fix in progress — last step before sales-org reporting is fully reliable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Trustworthy Gold Layer, Ready for Power BI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F315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fact tables built — SalesOrder, Delivery, Billing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74136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F3157"/>
          </a:solidFill>
          <a:ln/>
        </p:spPr>
      </p:sp>
      <p:sp>
        <p:nvSpPr>
          <p:cNvPr id="8" name="Text 6"/>
          <p:cNvSpPr/>
          <p:nvPr/>
        </p:nvSpPr>
        <p:spPr>
          <a:xfrm>
            <a:off x="3374136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57016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reporting currency, fully audit-tracked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99632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F3157"/>
          </a:solidFill>
          <a:ln/>
        </p:spPr>
      </p:sp>
      <p:sp>
        <p:nvSpPr>
          <p:cNvPr id="11" name="Text 9"/>
          <p:cNvSpPr/>
          <p:nvPr/>
        </p:nvSpPr>
        <p:spPr>
          <a:xfrm>
            <a:off x="6199632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82512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Silver-layer tables curated and cleaned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25128" y="1691640"/>
            <a:ext cx="2606040" cy="1691640"/>
          </a:xfrm>
          <a:prstGeom prst="roundRect">
            <a:avLst>
              <a:gd name="adj" fmla="val 5405"/>
            </a:avLst>
          </a:prstGeom>
          <a:solidFill>
            <a:srgbClr val="1F3157"/>
          </a:solidFill>
          <a:ln/>
        </p:spPr>
      </p:sp>
      <p:sp>
        <p:nvSpPr>
          <p:cNvPr id="14" name="Text 12"/>
          <p:cNvSpPr/>
          <p:nvPr/>
        </p:nvSpPr>
        <p:spPr>
          <a:xfrm>
            <a:off x="9025128" y="18288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08008" y="2697480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challenges fully resolved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1064240" cy="1965960"/>
          </a:xfrm>
          <a:prstGeom prst="roundRect">
            <a:avLst>
              <a:gd name="adj" fmla="val 4651"/>
            </a:avLst>
          </a:prstGeom>
          <a:solidFill>
            <a:srgbClr val="1B2C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0" descr="/home/claude/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4015130"/>
            <a:ext cx="473659" cy="4736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91640" y="3840480"/>
            <a:ext cx="9601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now covers the full path from raw SAP-style source data to a Power BI-ready Gold layer, with three fact tables built and currency-normalized to USD, and Gold publishing to Azure SQL Database through the right strategy for each table type.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691640" y="46177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— the Fact_Billing key fix and the second reconciliation pass — are scoped and tracked, not blocking. Checking assumptions against the actual data, rather than trusting a table or column name at face value, is the habit we’re carrying into the remaining work.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deck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1661465"/>
            <a:ext cx="608990" cy="6089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6868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4434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OTC / Order-to-Cash Reporting Platform  —  Data Engineer, Batch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Reshmi Rakesh P   ·   Thajunnisa N   ·   Athira NK   ·   Sruthy 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2026-09-11T11:04:44Z</dcterms:created>
  <dcterms:modified xsi:type="dcterms:W3CDTF">2026-09-11T11:04:44Z</dcterms:modified>
</cp:coreProperties>
</file>